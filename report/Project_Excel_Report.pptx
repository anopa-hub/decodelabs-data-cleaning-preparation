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E0EA"/>
    <a:srgbClr val="FFFE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7" d="100"/>
          <a:sy n="57" d="100"/>
        </p:scale>
        <p:origin x="288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FF7D1-23BA-4C14-E687-96D3B69E1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96C38-7BF2-600A-60E2-0E02AAA9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0B05B-80FC-2599-7562-CA2FB7796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8568-A668-434B-B378-5B4ED55D6538}" type="datetimeFigureOut">
              <a:rPr lang="en-001" smtClean="0"/>
              <a:t>30/06/2026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0BAB2-C87A-F1CA-C3E1-5EC68E0A6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B66B2-CCCE-0377-2066-1752760E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4937-6CF2-48A4-BCEB-8857BBC3D9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45476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F7432-64C7-D947-B571-3BE61092A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7A834-82BE-3656-2BFF-029F21F40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48053-91E7-62D1-FCF8-02E59E21A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8568-A668-434B-B378-5B4ED55D6538}" type="datetimeFigureOut">
              <a:rPr lang="en-001" smtClean="0"/>
              <a:t>30/06/2026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4FC54-CCE9-349C-9ACF-DE4F4918F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81183-3713-CC01-55CF-9CCBD52B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4937-6CF2-48A4-BCEB-8857BBC3D9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16313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DC868-033C-3762-9CFC-7385D2EAC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D0AB1-AE91-D1E3-5979-2086AC972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86B6B-083F-2340-FD50-778B56FF6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8568-A668-434B-B378-5B4ED55D6538}" type="datetimeFigureOut">
              <a:rPr lang="en-001" smtClean="0"/>
              <a:t>30/06/2026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17A27-7E9A-3D23-FC96-438D44B9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2B0E9-CABA-C0FE-4125-59723B136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4937-6CF2-48A4-BCEB-8857BBC3D9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808482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CCBF0-2A65-DEF0-5B01-D89CF4AFC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7E551-B6E7-7160-0BD6-856F12F947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9AA42-2179-8755-264A-8A4CF947B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C24B5-5C24-8540-4887-B993F52A0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8568-A668-434B-B378-5B4ED55D6538}" type="datetimeFigureOut">
              <a:rPr lang="en-001" smtClean="0"/>
              <a:t>30/06/2026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D1685-ED02-D183-E78B-82535F8B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DB513-A120-B89F-8AF3-13565F41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4937-6CF2-48A4-BCEB-8857BBC3D9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56683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EE31-B770-23D7-D54F-54A03E089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97168-F7B2-3BED-3DC2-BD7B9D62D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02A120-1FD0-B60A-9DFB-B360D97E7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C06794-3180-A54E-E4AB-5EF70B465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B7CF5-272A-7098-A39D-C11C5AF11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31B823-484B-A104-3F81-6E77BFFA2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8568-A668-434B-B378-5B4ED55D6538}" type="datetimeFigureOut">
              <a:rPr lang="en-001" smtClean="0"/>
              <a:t>30/06/2026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E6533D-1EB0-12C6-B872-BEF1FF8C9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6474B-CFEF-4E3B-B55F-7A68CBB9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4937-6CF2-48A4-BCEB-8857BBC3D9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207191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C9228-37F9-C43E-EB2D-09CD9AEE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8A339-8E7A-8DD6-0376-E1182844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8568-A668-434B-B378-5B4ED55D6538}" type="datetimeFigureOut">
              <a:rPr lang="en-001" smtClean="0"/>
              <a:t>30/06/2026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864DA-85E0-D3DA-B69E-BDDE0FBFE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501D14-8825-EE7B-ACC2-D0ED7C72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4937-6CF2-48A4-BCEB-8857BBC3D9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71243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4AB657-7C93-93F4-B52F-E8F342BC4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8568-A668-434B-B378-5B4ED55D6538}" type="datetimeFigureOut">
              <a:rPr lang="en-001" smtClean="0"/>
              <a:t>30/06/2026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C8033B-932C-38C6-84A3-17AE58B35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9DAFB-7670-448E-2803-049E0E88A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4937-6CF2-48A4-BCEB-8857BBC3D9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07908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0BB6A-3CEE-D3CD-F9AA-14697889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C8F95-4E23-B1A2-5C6A-DC0933B17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A5A92-A823-37A8-6B23-6F7FD702F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E3582-0C1A-B0A5-C031-AEBBC67C1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8568-A668-434B-B378-5B4ED55D6538}" type="datetimeFigureOut">
              <a:rPr lang="en-001" smtClean="0"/>
              <a:t>30/06/2026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DAABA-82D0-3FF0-A3D5-BA5B9339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4C082-C25E-84BD-AA3A-9787F432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4937-6CF2-48A4-BCEB-8857BBC3D9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318431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FE9D-C87C-91BB-40D7-9E6680C8A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10E8B3-6D04-35EE-633A-D44A51853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C8E50-3B06-06D4-8C04-87F3092B9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6E622-6A6F-E054-D18A-38E394C57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8568-A668-434B-B378-5B4ED55D6538}" type="datetimeFigureOut">
              <a:rPr lang="en-001" smtClean="0"/>
              <a:t>30/06/2026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F29B5-F99B-A8D9-F46D-D25B5FB73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B4D1B-3B97-4704-FDCD-E3AD7E37E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4937-6CF2-48A4-BCEB-8857BBC3D9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82821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128A-60BB-7A8E-BB04-3A9FE4FE0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ED668-9C87-AA0C-F105-B19908853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46712-ADD3-2AF9-005F-4A18C8D1F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8568-A668-434B-B378-5B4ED55D6538}" type="datetimeFigureOut">
              <a:rPr lang="en-001" smtClean="0"/>
              <a:t>30/06/2026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A79B1-93FB-F169-082E-17B835CE5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32C35-D5E0-3FF9-94DE-737982EB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4937-6CF2-48A4-BCEB-8857BBC3D9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200294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BE5CAF-3DE2-3520-EA00-8D07DC0C49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0A00F-DE46-9B01-0E0F-82DEBB1E1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86C0A-A56B-4C6E-56B2-B5CEC114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88568-A668-434B-B378-5B4ED55D6538}" type="datetimeFigureOut">
              <a:rPr lang="en-001" smtClean="0"/>
              <a:t>30/06/2026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FABB4-2F56-A0C2-61C8-4839518F0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B2F6B-10AE-CF57-C057-338A21B71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4937-6CF2-48A4-BCEB-8857BBC3D9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602258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24EE31-8944-F012-6EFD-043179D8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E443E-278B-0368-45F1-34BEF0FB5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78559-D33D-0F45-932F-57C3A3A32B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88568-A668-434B-B378-5B4ED55D6538}" type="datetimeFigureOut">
              <a:rPr lang="en-001" smtClean="0"/>
              <a:t>30/06/2026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6E486-EE47-2676-6CF6-8EB1160C6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06573-F46C-815B-0CF2-8403B1CBF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94937-6CF2-48A4-BCEB-8857BBC3D952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350091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834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77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0B1868-1562-6035-C937-296258BFC5D7}"/>
              </a:ext>
            </a:extLst>
          </p:cNvPr>
          <p:cNvSpPr txBox="1"/>
          <p:nvPr/>
        </p:nvSpPr>
        <p:spPr>
          <a:xfrm>
            <a:off x="3524036" y="631860"/>
            <a:ext cx="6256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THE RAW REALITY / Before the Cleanup</a:t>
            </a:r>
            <a:endParaRPr lang="en-001" sz="2400" b="1" u="sn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B5FDC0-06FB-2426-BE6D-4F22D148C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01" y="1301743"/>
            <a:ext cx="6986427" cy="49243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7755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6FC3-6D9E-0532-A715-43D024F9484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u="sng" dirty="0"/>
              <a:t>The 3-Phase Data Cleaning Process</a:t>
            </a:r>
            <a:endParaRPr lang="en-001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49EE9-0664-986D-37D0-32835D66C61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highlight>
                  <a:srgbClr val="86E0EA"/>
                </a:highlight>
              </a:rPr>
              <a:t>Phase 1 · Imputation (Handling Nulls)</a:t>
            </a:r>
          </a:p>
          <a:p>
            <a:pPr marL="0" indent="0">
              <a:buNone/>
            </a:pPr>
            <a:r>
              <a:rPr lang="en-US" b="1" dirty="0"/>
              <a:t>     All-Column Pass:</a:t>
            </a:r>
            <a:r>
              <a:rPr lang="en-US" dirty="0"/>
              <a:t> Selected all columns and replaced empty cells with a standardized "Null" flag.</a:t>
            </a:r>
          </a:p>
          <a:p>
            <a:pPr marL="0" indent="0">
              <a:buNone/>
            </a:pPr>
            <a:r>
              <a:rPr lang="en-US" b="1" dirty="0"/>
              <a:t>     Numerical Median Imputation:</a:t>
            </a:r>
            <a:r>
              <a:rPr lang="en-US" dirty="0"/>
              <a:t> Calculated column medians to replace missing rows, preserving data scale.</a:t>
            </a:r>
          </a:p>
          <a:p>
            <a:pPr marL="0" indent="0">
              <a:buNone/>
            </a:pPr>
            <a:r>
              <a:rPr lang="en-US" b="1" dirty="0"/>
              <a:t>   Categorical Imputation:</a:t>
            </a:r>
            <a:r>
              <a:rPr lang="en-US" dirty="0"/>
              <a:t> Replaced missing text cells in categorical fields with a "None" placeholder.</a:t>
            </a:r>
          </a:p>
          <a:p>
            <a:r>
              <a:rPr lang="en-US" b="1" dirty="0">
                <a:highlight>
                  <a:srgbClr val="86E0EA"/>
                </a:highlight>
              </a:rPr>
              <a:t>Phase 2 · Integrity Audit (Deduplication)</a:t>
            </a:r>
          </a:p>
          <a:p>
            <a:pPr marL="0" indent="0">
              <a:buNone/>
            </a:pPr>
            <a:r>
              <a:rPr lang="en-US" dirty="0"/>
              <a:t>    Audited row configurations to identify transaction data duplication.</a:t>
            </a:r>
          </a:p>
          <a:p>
            <a:pPr marL="0" indent="0">
              <a:buNone/>
            </a:pPr>
            <a:r>
              <a:rPr lang="en-US" dirty="0"/>
              <a:t>    Applied native Excel data tools to completely </a:t>
            </a:r>
            <a:r>
              <a:rPr lang="en-US" b="1" dirty="0"/>
              <a:t>remove duplicate records</a:t>
            </a:r>
            <a:r>
              <a:rPr lang="en-US" dirty="0"/>
              <a:t> based on primary identifiers.</a:t>
            </a:r>
          </a:p>
          <a:p>
            <a:r>
              <a:rPr lang="en-US" b="1" dirty="0">
                <a:highlight>
                  <a:srgbClr val="86E0EA"/>
                </a:highlight>
              </a:rPr>
              <a:t>Phase 3 · Formatting &amp; Type Conversion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dirty="0"/>
              <a:t>Checked structural layouts across all 14 variable dataset columns.</a:t>
            </a:r>
          </a:p>
          <a:p>
            <a:pPr marL="0" indent="0">
              <a:buNone/>
            </a:pPr>
            <a:r>
              <a:rPr lang="en-US" dirty="0"/>
              <a:t>   Converted raw strings into precise </a:t>
            </a:r>
            <a:r>
              <a:rPr lang="en-US" b="1" dirty="0"/>
              <a:t>data types</a:t>
            </a:r>
            <a:r>
              <a:rPr lang="en-US" dirty="0"/>
              <a:t> (Short Dates, Currency layouts, and Integer counts).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462576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FFFC6-E60C-9C58-27FD-D1FE65ED5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Project 1: Data Cleaning Change Log</a:t>
            </a:r>
            <a:endParaRPr lang="en-001" sz="28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0881C2-810A-4165-B8B1-352BAF3C6924}"/>
              </a:ext>
            </a:extLst>
          </p:cNvPr>
          <p:cNvSpPr/>
          <p:nvPr/>
        </p:nvSpPr>
        <p:spPr>
          <a:xfrm>
            <a:off x="968768" y="1376737"/>
            <a:ext cx="4458984" cy="258908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480FA6-4285-0716-800C-4AD2E825DD6C}"/>
              </a:ext>
            </a:extLst>
          </p:cNvPr>
          <p:cNvSpPr/>
          <p:nvPr/>
        </p:nvSpPr>
        <p:spPr>
          <a:xfrm>
            <a:off x="5558320" y="1376737"/>
            <a:ext cx="4458984" cy="258908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E64DA9-012D-89C0-20E7-B9228AFF7A71}"/>
              </a:ext>
            </a:extLst>
          </p:cNvPr>
          <p:cNvSpPr/>
          <p:nvPr/>
        </p:nvSpPr>
        <p:spPr>
          <a:xfrm>
            <a:off x="968768" y="4083977"/>
            <a:ext cx="4458984" cy="258908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20A437-6A37-9CA9-0A83-F5F11FB39C25}"/>
              </a:ext>
            </a:extLst>
          </p:cNvPr>
          <p:cNvSpPr/>
          <p:nvPr/>
        </p:nvSpPr>
        <p:spPr>
          <a:xfrm>
            <a:off x="5641797" y="4083977"/>
            <a:ext cx="4458984" cy="258908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F8731-2BAB-529E-2D52-9322DA1AC4A7}"/>
              </a:ext>
            </a:extLst>
          </p:cNvPr>
          <p:cNvSpPr txBox="1"/>
          <p:nvPr/>
        </p:nvSpPr>
        <p:spPr>
          <a:xfrm>
            <a:off x="1130157" y="1571946"/>
            <a:ext cx="40377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86E0EA"/>
                </a:highlight>
              </a:rPr>
              <a:t>Phase 1: Imputation</a:t>
            </a:r>
          </a:p>
          <a:p>
            <a:r>
              <a:rPr lang="en-US" dirty="0"/>
              <a:t>• Columns: Quantity, </a:t>
            </a:r>
            <a:r>
              <a:rPr lang="en-US" dirty="0" err="1"/>
              <a:t>ItemsInCart</a:t>
            </a:r>
            <a:r>
              <a:rPr lang="en-US" dirty="0"/>
              <a:t>, </a:t>
            </a:r>
            <a:r>
              <a:rPr lang="en-US" dirty="0" err="1"/>
              <a:t>CouponCode</a:t>
            </a:r>
            <a:endParaRPr lang="en-US" dirty="0"/>
          </a:p>
          <a:p>
            <a:r>
              <a:rPr lang="en-US" dirty="0"/>
              <a:t>• Action: Filled missing numeric cells with Median (=3); replaced empty text strings with a "None" flag.</a:t>
            </a:r>
          </a:p>
          <a:p>
            <a:r>
              <a:rPr lang="en-US" dirty="0"/>
              <a:t>• Impact: Preserved all 1,200 rows without statistical data loss.</a:t>
            </a:r>
            <a:endParaRPr lang="en-00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699C11-F7EC-3D01-80A4-8870ABB32E78}"/>
              </a:ext>
            </a:extLst>
          </p:cNvPr>
          <p:cNvSpPr txBox="1"/>
          <p:nvPr/>
        </p:nvSpPr>
        <p:spPr>
          <a:xfrm>
            <a:off x="5641797" y="1571946"/>
            <a:ext cx="42047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86E0EA"/>
                </a:highlight>
              </a:rPr>
              <a:t>Phase 2: Audit</a:t>
            </a:r>
          </a:p>
          <a:p>
            <a:r>
              <a:rPr lang="en-US" dirty="0"/>
              <a:t>• Columns: </a:t>
            </a:r>
            <a:r>
              <a:rPr lang="en-US" dirty="0" err="1"/>
              <a:t>OrderID</a:t>
            </a:r>
            <a:endParaRPr lang="en-US" dirty="0"/>
          </a:p>
          <a:p>
            <a:r>
              <a:rPr lang="en-US" dirty="0"/>
              <a:t>• Action: Audited transaction records and executed native Remove Duplicates engine on identifier keys.</a:t>
            </a:r>
          </a:p>
          <a:p>
            <a:r>
              <a:rPr lang="en-US" dirty="0"/>
              <a:t>• Impact: Secured a strict 0% transaction duplicate error rate.</a:t>
            </a:r>
            <a:endParaRPr lang="en-00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87417-D9CC-625E-1FD4-5009C2B1EF7A}"/>
              </a:ext>
            </a:extLst>
          </p:cNvPr>
          <p:cNvSpPr txBox="1"/>
          <p:nvPr/>
        </p:nvSpPr>
        <p:spPr>
          <a:xfrm>
            <a:off x="1248937" y="4259766"/>
            <a:ext cx="39189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86E0EA"/>
                </a:highlight>
              </a:rPr>
              <a:t>Phase 3: Formatting</a:t>
            </a:r>
          </a:p>
          <a:p>
            <a:r>
              <a:rPr lang="en-US" dirty="0"/>
              <a:t>• Columns: Date, </a:t>
            </a:r>
            <a:r>
              <a:rPr lang="en-US" dirty="0" err="1"/>
              <a:t>UnitPrice</a:t>
            </a:r>
            <a:r>
              <a:rPr lang="en-US" dirty="0"/>
              <a:t>, </a:t>
            </a:r>
            <a:r>
              <a:rPr lang="en-US" dirty="0" err="1"/>
              <a:t>TotalPrice</a:t>
            </a:r>
            <a:endParaRPr lang="en-US" dirty="0"/>
          </a:p>
          <a:p>
            <a:r>
              <a:rPr lang="en-US" dirty="0"/>
              <a:t>• Action: Mapped numeric serial strings to Date formats; forced strict currency to exactly 2 decimal places.</a:t>
            </a:r>
          </a:p>
          <a:p>
            <a:r>
              <a:rPr lang="en-US" dirty="0"/>
              <a:t>• Impact: Resolved date masking layouts and standardized financial precision.</a:t>
            </a:r>
            <a:endParaRPr lang="en-00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E17A39-C5BA-973E-B84E-04484DCC10CC}"/>
              </a:ext>
            </a:extLst>
          </p:cNvPr>
          <p:cNvSpPr txBox="1"/>
          <p:nvPr/>
        </p:nvSpPr>
        <p:spPr>
          <a:xfrm>
            <a:off x="5977054" y="4259766"/>
            <a:ext cx="38694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86E0EA"/>
                </a:highlight>
              </a:rPr>
              <a:t>General Cleanup</a:t>
            </a:r>
          </a:p>
          <a:p>
            <a:r>
              <a:rPr lang="en-US" dirty="0"/>
              <a:t>• Columns: Quantity – Copy</a:t>
            </a:r>
          </a:p>
          <a:p>
            <a:r>
              <a:rPr lang="en-US" dirty="0"/>
              <a:t>• Action: Deleted redundant data processing helper columns left over from median calculations.</a:t>
            </a:r>
          </a:p>
          <a:p>
            <a:r>
              <a:rPr lang="en-US" dirty="0"/>
              <a:t>• Impact: Optimized the database file structure and compressed the overall spreadsheet size.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164711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F5A4-FE23-F18B-3021-9583AFCA0DD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800" b="1" dirty="0">
                <a:highlight>
                  <a:srgbClr val="86E0EA"/>
                </a:highlight>
              </a:rPr>
              <a:t>VERIFICATION GATE</a:t>
            </a:r>
            <a:endParaRPr lang="en-001" sz="2800" b="1" dirty="0">
              <a:highlight>
                <a:srgbClr val="86E0EA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B0878D-0DBE-F137-4292-7E93E0000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95" y="1443674"/>
            <a:ext cx="7426713" cy="46620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Callout: Left Arrow 5">
            <a:extLst>
              <a:ext uri="{FF2B5EF4-FFF2-40B4-BE49-F238E27FC236}">
                <a16:creationId xmlns:a16="http://schemas.microsoft.com/office/drawing/2014/main" id="{A74D2B7D-089C-3E53-F259-7B02584EFBCC}"/>
              </a:ext>
            </a:extLst>
          </p:cNvPr>
          <p:cNvSpPr/>
          <p:nvPr/>
        </p:nvSpPr>
        <p:spPr>
          <a:xfrm>
            <a:off x="7839308" y="563136"/>
            <a:ext cx="3940097" cy="6133170"/>
          </a:xfrm>
          <a:prstGeom prst="leftArrowCallou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341446-F133-746D-8919-E2EFEFD9C17D}"/>
              </a:ext>
            </a:extLst>
          </p:cNvPr>
          <p:cNvSpPr txBox="1"/>
          <p:nvPr/>
        </p:nvSpPr>
        <p:spPr>
          <a:xfrm>
            <a:off x="9422781" y="672801"/>
            <a:ext cx="224139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001" dirty="0"/>
              <a:t>🟢 </a:t>
            </a:r>
            <a:r>
              <a:rPr lang="en-001" b="1" dirty="0"/>
              <a:t>0 </a:t>
            </a:r>
            <a:r>
              <a:rPr lang="en-US" b="1" dirty="0"/>
              <a:t>Missing Cells:</a:t>
            </a:r>
            <a:r>
              <a:rPr lang="en-US" dirty="0"/>
              <a:t> Achieved 100% data completeness by filling empty slots with median values and "None" placeholders.</a:t>
            </a:r>
          </a:p>
          <a:p>
            <a:r>
              <a:rPr lang="en-001" dirty="0"/>
              <a:t>🟢 </a:t>
            </a:r>
            <a:r>
              <a:rPr lang="en-001" b="1" dirty="0"/>
              <a:t>0 </a:t>
            </a:r>
            <a:r>
              <a:rPr lang="en-US" b="1" dirty="0"/>
              <a:t>Duplicate Records:</a:t>
            </a:r>
            <a:r>
              <a:rPr lang="en-US" dirty="0"/>
              <a:t> Verified 1,200 unique rows to protect database metrics against inflation.</a:t>
            </a:r>
          </a:p>
          <a:p>
            <a:r>
              <a:rPr lang="en-001" dirty="0"/>
              <a:t>🟢 </a:t>
            </a:r>
            <a:r>
              <a:rPr lang="en-001" b="1" dirty="0"/>
              <a:t>100% </a:t>
            </a:r>
            <a:r>
              <a:rPr lang="en-US" b="1" dirty="0"/>
              <a:t>Uniform Data Types:</a:t>
            </a:r>
            <a:r>
              <a:rPr lang="en-US" dirty="0"/>
              <a:t> Successfully converted raw date strings, numeric item counts, and forced financial figures to 2 decimal places.</a:t>
            </a:r>
          </a:p>
          <a:p>
            <a:br>
              <a:rPr lang="en-US" dirty="0"/>
            </a:br>
            <a:endParaRPr lang="en-US" dirty="0"/>
          </a:p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195877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58</TotalTime>
  <Words>387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The 3-Phase Data Cleaning Process</vt:lpstr>
      <vt:lpstr>Project 1: Data Cleaning Change Log</vt:lpstr>
      <vt:lpstr>VERIFICATION GATE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god grace</dc:creator>
  <cp:lastModifiedBy>god grace</cp:lastModifiedBy>
  <cp:revision>1</cp:revision>
  <dcterms:created xsi:type="dcterms:W3CDTF">2026-07-01T06:48:00Z</dcterms:created>
  <dcterms:modified xsi:type="dcterms:W3CDTF">2026-07-01T07:46:31Z</dcterms:modified>
</cp:coreProperties>
</file>